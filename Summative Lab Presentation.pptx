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9" d="100"/>
          <a:sy n="119" d="100"/>
        </p:scale>
        <p:origin x="234" y="-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455F741-1CE7-AD10-A510-FB6852B606F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33F71-090F-AEE2-5BC4-8CCCEC73B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Movie Genres and Audience Ratings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A5278-0C68-A52A-826D-D6D13DE1C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SUMMATIVE LAB – SHIRLENE OUMA</a:t>
            </a:r>
            <a:endParaRPr lang="en-KE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47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" y="594360"/>
            <a:ext cx="82296" cy="411480"/>
          </a:xfrm>
          <a:prstGeom prst="rect">
            <a:avLst/>
          </a:prstGeom>
          <a:solidFill>
            <a:srgbClr val="EBB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54765" y="418853"/>
            <a:ext cx="3191256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100" b="1">
                <a:solidFill>
                  <a:srgbClr val="EBB44F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ANALYSIS · 2010–2019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972800" cy="5078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movie genres earn the strongest ratings?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7472201" cy="43088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5F8FC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IMDb movie genre and audience rating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96896"/>
            <a:ext cx="7095744" cy="32316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800" b="0">
                <a:solidFill>
                  <a:srgbClr val="A8B8C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preliminary investigation using SQLite, SQL, Pandas and Matplotlib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67328"/>
            <a:ext cx="3502152" cy="1417320"/>
          </a:xfrm>
          <a:prstGeom prst="round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529007" y="3942017"/>
            <a:ext cx="1687721" cy="5078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3000" b="1">
                <a:solidFill>
                  <a:srgbClr val="EBB44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145,081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1772" y="4578530"/>
            <a:ext cx="2062190" cy="24622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300" b="0">
                <a:solidFill>
                  <a:srgbClr val="A8B8CD"/>
                </a:solidFill>
                <a:latin typeface="Aptos"/>
              </a:defRPr>
            </a:pPr>
            <a:r>
              <a:rPr dirty="0"/>
              <a:t>movie records in period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3767328"/>
            <a:ext cx="3502152" cy="1417320"/>
          </a:xfrm>
          <a:prstGeom prst="round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50393" y="3970613"/>
            <a:ext cx="1490907" cy="5078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3000" b="1">
                <a:solidFill>
                  <a:srgbClr val="EBB44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73,052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7512" y="4674816"/>
            <a:ext cx="1856667" cy="24622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300" b="0">
                <a:solidFill>
                  <a:srgbClr val="A8B8C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rated movies with genres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6" y="3767328"/>
            <a:ext cx="3502152" cy="1417320"/>
          </a:xfrm>
          <a:prstGeom prst="round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31313" y="3961468"/>
            <a:ext cx="971877" cy="5078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3000" b="1">
                <a:solidFill>
                  <a:srgbClr val="EBB44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982" y="4663439"/>
            <a:ext cx="1836537" cy="24622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300" b="0">
                <a:solidFill>
                  <a:srgbClr val="A8B8C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 labels observed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50992"/>
            <a:ext cx="7994469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A8B8C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supplied IMDb database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im.db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Movies with missing genre or rating excluded from genre comparisons.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" y="594360"/>
            <a:ext cx="82296" cy="411480"/>
          </a:xfrm>
          <a:prstGeom prst="rect">
            <a:avLst/>
          </a:prstGeom>
          <a:solidFill>
            <a:srgbClr val="EBB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39833" y="361830"/>
            <a:ext cx="3276014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100" b="1">
                <a:solidFill>
                  <a:srgbClr val="EBB44F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EXPLORATION ·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972800" cy="5078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atings: 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1865376"/>
            <a:ext cx="731520" cy="26161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400" b="1">
                <a:solidFill>
                  <a:srgbClr val="EBB44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865376"/>
            <a:ext cx="939165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 b="0">
                <a:solidFill>
                  <a:srgbClr val="A8B8C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17,753 films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2304288"/>
            <a:ext cx="731520" cy="26161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400" b="1">
                <a:solidFill>
                  <a:srgbClr val="EBB44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304288"/>
            <a:ext cx="824865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 b="0">
                <a:solidFill>
                  <a:srgbClr val="A8B8C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579 films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2743200"/>
            <a:ext cx="731520" cy="26161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400" b="1">
                <a:solidFill>
                  <a:srgbClr val="EBB44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743200"/>
            <a:ext cx="1033271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 b="0">
                <a:solidFill>
                  <a:srgbClr val="A8B8C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3,809 films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3182112"/>
            <a:ext cx="731520" cy="26161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400" b="1">
                <a:solidFill>
                  <a:srgbClr val="EBB44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182112"/>
            <a:ext cx="939165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 b="0">
                <a:solidFill>
                  <a:srgbClr val="A8B8C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1,968 films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3621024"/>
            <a:ext cx="731520" cy="26161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400" b="1">
                <a:solidFill>
                  <a:srgbClr val="EBB44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621024"/>
            <a:ext cx="824865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 b="0">
                <a:solidFill>
                  <a:srgbClr val="A8B8C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2,825 films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4059935"/>
            <a:ext cx="731520" cy="26161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400" b="1">
                <a:solidFill>
                  <a:srgbClr val="EBB44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4059935"/>
            <a:ext cx="939165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A8B8C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1,179 films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8431" y="4498848"/>
            <a:ext cx="731520" cy="26161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400" b="1">
                <a:solidFill>
                  <a:srgbClr val="EBB44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4498848"/>
            <a:ext cx="824865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 b="0">
                <a:solidFill>
                  <a:srgbClr val="A8B8C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853 films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8431" y="4937760"/>
            <a:ext cx="731520" cy="26161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400" b="1">
                <a:solidFill>
                  <a:srgbClr val="EBB44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4937760"/>
            <a:ext cx="939165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 b="0">
                <a:solidFill>
                  <a:srgbClr val="A8B8C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721 films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21240" y="1883664"/>
            <a:ext cx="1554480" cy="82296"/>
          </a:xfrm>
          <a:prstGeom prst="rect">
            <a:avLst/>
          </a:prstGeom>
          <a:solidFill>
            <a:srgbClr val="EBB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21240" y="2084831"/>
            <a:ext cx="1645920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 b="1">
                <a:solidFill>
                  <a:srgbClr val="EBB44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2523744"/>
            <a:ext cx="1783080" cy="83099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Documentary leads eligible genres at 7.33/10.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89820" y="3851856"/>
            <a:ext cx="1645920" cy="84638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300" b="0">
                <a:solidFill>
                  <a:srgbClr val="A8B8C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Drama has the most rated movies (30,788), but a lower mean rating (6.40).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089904"/>
            <a:ext cx="5627326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0">
                <a:solidFill>
                  <a:srgbClr val="A8B8CD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genres with ≥20 rated films shown. Movies may appear in more than one genre.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D467FD95-AF97-409D-8129-A2730CA3D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440519"/>
            <a:ext cx="6268915" cy="44583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" y="594360"/>
            <a:ext cx="82296" cy="411480"/>
          </a:xfrm>
          <a:prstGeom prst="rect">
            <a:avLst/>
          </a:prstGeom>
          <a:solidFill>
            <a:srgbClr val="EBB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01390" y="246888"/>
            <a:ext cx="3604260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100" b="1">
                <a:solidFill>
                  <a:srgbClr val="EBB44F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IMPLICATIONS · FURTHER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4215384" cy="5078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10698480" cy="1280160"/>
          </a:xfrm>
          <a:prstGeom prst="round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12264"/>
            <a:ext cx="10104120" cy="7232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F5F8FC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movie genres consistently receive higher audience ratings, and how do movie counts and audience voting levels affect those comparisons?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682115" cy="24622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300" b="1">
                <a:solidFill>
                  <a:srgbClr val="EBB44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41648"/>
            <a:ext cx="5120640" cy="92333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0">
                <a:solidFill>
                  <a:srgbClr val="F5F8FC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can help producers and distributors identify genres worth deeper audience research, but they do not measure profitability.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611880"/>
            <a:ext cx="1809750" cy="24622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300" b="1">
                <a:solidFill>
                  <a:srgbClr val="EBB44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41648"/>
            <a:ext cx="4754880" cy="92333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0">
                <a:solidFill>
                  <a:srgbClr val="F5F8FC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ratings by genre with movie counts and vote volumes; test whether patterns remain after excluding low-vote titles.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" y="594360"/>
            <a:ext cx="82296" cy="411480"/>
          </a:xfrm>
          <a:prstGeom prst="rect">
            <a:avLst/>
          </a:prstGeom>
          <a:solidFill>
            <a:srgbClr val="EBB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81398" y="287476"/>
            <a:ext cx="2870835" cy="2154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100" b="1">
                <a:solidFill>
                  <a:srgbClr val="EBB44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ONLY · NOT PERFORMED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5282184" cy="5078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3000" b="1">
                <a:solidFill>
                  <a:srgbClr val="F5F8FC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ata-cleaning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10625328" cy="667512"/>
          </a:xfrm>
          <a:prstGeom prst="round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1929384"/>
            <a:ext cx="429768" cy="2769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500" b="1">
                <a:solidFill>
                  <a:srgbClr val="EBB44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92807"/>
            <a:ext cx="1560195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892807"/>
            <a:ext cx="6949440" cy="24622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300" b="0">
                <a:solidFill>
                  <a:srgbClr val="A8B8C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5,359 records lack genres; 30,765 lack runtime. Exclude missing fields relevant to each analysis.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596896"/>
            <a:ext cx="10625328" cy="667512"/>
          </a:xfrm>
          <a:prstGeom prst="round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" y="2743200"/>
            <a:ext cx="429768" cy="2769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500" b="1">
                <a:solidFill>
                  <a:srgbClr val="EBB44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706624"/>
            <a:ext cx="1661962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Missing ratings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3882" y="2753683"/>
            <a:ext cx="5470358" cy="24622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300" b="0">
                <a:solidFill>
                  <a:srgbClr val="A8B8C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71,225 movies have no matching rating record; do not fill missing ratings.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10712"/>
            <a:ext cx="10625328" cy="667512"/>
          </a:xfrm>
          <a:prstGeom prst="round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3557016"/>
            <a:ext cx="429768" cy="2769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500" b="1">
                <a:solidFill>
                  <a:srgbClr val="EBB44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20440"/>
            <a:ext cx="2223436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 standardization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3296" y="3535680"/>
            <a:ext cx="6949440" cy="24622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300" b="0">
                <a:solidFill>
                  <a:srgbClr val="A8B8C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comma-separated genres and check label spelling/whitespace; document overlapping categories.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224528"/>
            <a:ext cx="10625328" cy="667512"/>
          </a:xfrm>
          <a:prstGeom prst="round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" y="4370832"/>
            <a:ext cx="429768" cy="2769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500" b="1">
                <a:solidFill>
                  <a:srgbClr val="EBB44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34256"/>
            <a:ext cx="2351773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 and formats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9155" y="4357339"/>
            <a:ext cx="4860758" cy="24622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300" b="0">
                <a:solidFill>
                  <a:srgbClr val="A8B8C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unique movie IDs, joins, release-year and numeric field types.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038344"/>
            <a:ext cx="10625328" cy="667512"/>
          </a:xfrm>
          <a:prstGeom prst="round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9264" y="5184648"/>
            <a:ext cx="429768" cy="2769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500" b="1">
                <a:solidFill>
                  <a:srgbClr val="EBB44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148072"/>
            <a:ext cx="2351773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Coverage and reliability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5148072"/>
            <a:ext cx="5323573" cy="24622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300" b="0">
                <a:solidFill>
                  <a:srgbClr val="A8B8C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 to 2010–2019; inspect very low vote counts and unusual values.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6062472"/>
            <a:ext cx="8387715" cy="26161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EBB44F"/>
                </a:solidFill>
                <a:latin typeface="Aptos"/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Cleaning recommendations are identified for future work; no imputation or permanent database changes were made.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8C1928-B268-638F-BE6B-FAE954BCBB2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2C7A84-436D-DC66-0928-BF1D8E179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821" y="2286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KE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279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350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Exploring Movie Genres and Audience Ratings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S.OUMA❤️</dc:creator>
  <cp:keywords/>
  <dc:description>generated using python-pptx</dc:description>
  <cp:lastModifiedBy>Shirlene Agunda</cp:lastModifiedBy>
  <cp:revision>2</cp:revision>
  <dcterms:created xsi:type="dcterms:W3CDTF">2013-01-27T09:14:16Z</dcterms:created>
  <dcterms:modified xsi:type="dcterms:W3CDTF">2026-10-26T20:08:25Z</dcterms:modified>
  <cp:category/>
</cp:coreProperties>
</file>